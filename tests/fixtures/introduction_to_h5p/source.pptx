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 short introduction to H5P: what it is, what you can build with it, where it runs and how to get started. The card grid on the right mirrors the memory game on the h5p.org homepage. It's a quick taste of the interactivity H5P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H5P stands for HTML5 Package. It is a community-driven open-source project. The three ideas on the h5p.org homepage sum it up: create, share, reuse. Content isn't locked into one site; it can be moved, copied and adapted.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takeaway. Authors build content in an editor that runs in the browser, and learners open it in the browser too. It is responsive, so the same activity works on any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just a few of the content types available. Each one is a ready-made template: you fill in your text, images or video, and H5P handles the interactivity. The full list, with live examples, is on h5p.org under Examples and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main routes. The free route is a plugin for WordPress, Moodle or Drupal, so you author on your own site. The paid route is H5P.com, a hosted service that plugs into an LMS via the LTI standard: Canvas, Brightspace, Blackboard, Moodle and others. On top of that, H5P content can be embedded in almost any platform that accepts an iframe.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teams pick H5P. It's free and open source under the MIT license. It's responsive. Content is portable: you can download an activity as a .h5p file and upload it somewhere else, then adapt it. And authors don't need to write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to get going. Start by playing with the examples on h5p.org. Then choose how you'll run it: the free plugin on your own site, or H5P.com if you want a hosted service that plugs into your LMS. Then build something small and share it. The documentation and forum on h5p.org are good places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F6FC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856780"/>
            <a:ext cx="6350000" cy="1843980"/>
          </a:xfrm>
          <a:prstGeom prst="rect">
            <a:avLst/>
          </a:prstGeom>
          <a:noFill/>
          <a:ln/>
        </p:spPr>
        <p:txBody>
          <a:bodyPr wrap="square" lIns="0" tIns="0" rIns="0" bIns="0" rtlCol="0" anchor="t"/>
          <a:lstStyle>
            <a:lvl1pPr algn="l" indent="0" marL="0">
              <a:lnSpc>
                <a:spcPct val="110000"/>
              </a:lnSpc>
              <a:buNone/>
              <a:defRPr lang="en-US" sz="4400" dirty="0">
                <a:solidFill>
                  <a:srgbClr val="FFFFFF"/>
                </a:solidFill>
                <a:latin typeface="Open Sans" pitchFamily="34" charset="0"/>
                <a:ea typeface="Open Sans" pitchFamily="34" charset="-122"/>
                <a:cs typeface="Open Sans"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4005560"/>
            <a:ext cx="10566400" cy="2039640"/>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F6FC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856780"/>
            <a:ext cx="6350000" cy="1843980"/>
          </a:xfrm>
          <a:prstGeom prst="rect">
            <a:avLst/>
          </a:prstGeom>
          <a:noFill/>
          <a:ln/>
        </p:spPr>
        <p:txBody>
          <a:bodyPr wrap="square" lIns="0" tIns="0" rIns="0" bIns="0" rtlCol="0" anchor="t"/>
          <a:lstStyle>
            <a:lvl1pPr algn="l" indent="0" marL="0">
              <a:lnSpc>
                <a:spcPct val="110000"/>
              </a:lnSpc>
              <a:buNone/>
              <a:defRPr lang="en-US" sz="4400" dirty="0">
                <a:solidFill>
                  <a:srgbClr val="FFFFFF"/>
                </a:solidFill>
                <a:latin typeface="Open Sans" pitchFamily="34" charset="0"/>
                <a:ea typeface="Open Sans" pitchFamily="34" charset="-122"/>
                <a:cs typeface="Open Sans"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4005560"/>
            <a:ext cx="10566400" cy="2039640"/>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h5p.org" TargetMode="External"/><Relationship Id="rId1"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6FC5"/>
        </a:solidFill>
      </p:bgPr>
    </p:bg>
    <p:spTree>
      <p:nvGrpSpPr>
        <p:cNvPr id="1" name=""/>
        <p:cNvGrpSpPr/>
        <p:nvPr/>
      </p:nvGrpSpPr>
      <p:grpSpPr>
        <a:xfrm>
          <a:off x="0" y="0"/>
          <a:ext cx="0" cy="0"/>
          <a:chOff x="0" y="0"/>
          <a:chExt cx="0" cy="0"/>
        </a:xfrm>
      </p:grpSpPr>
      <p:sp>
        <p:nvSpPr>
          <p:cNvPr id="2" name="Text 0"/>
          <p:cNvSpPr/>
          <p:nvPr/>
        </p:nvSpPr>
        <p:spPr>
          <a:xfrm>
            <a:off x="812800" y="1353939"/>
            <a:ext cx="6540500"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D6E6F7"/>
                </a:solidFill>
                <a:latin typeface="Open Sans" pitchFamily="34" charset="0"/>
                <a:ea typeface="Open Sans" pitchFamily="34" charset="-122"/>
                <a:cs typeface="Open Sans" pitchFamily="34" charset="-120"/>
              </a:rPr>
              <a:t>AN INTRODUCTION TO H5P</a:t>
            </a:r>
            <a:endParaRPr lang="en-US" sz="1400" dirty="0"/>
          </a:p>
        </p:txBody>
      </p:sp>
      <p:sp>
        <p:nvSpPr>
          <p:cNvPr id="3" name="Text 1"/>
          <p:cNvSpPr/>
          <p:nvPr>
            <p:ph type="title"/>
          </p:nvPr>
        </p:nvSpPr>
        <p:spPr>
          <a:xfrm>
            <a:off x="812800" y="1856780"/>
            <a:ext cx="6540500" cy="186938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FFFFF"/>
                </a:solidFill>
                <a:latin typeface="Open Sans" pitchFamily="34" charset="0"/>
                <a:ea typeface="Open Sans" pitchFamily="34" charset="-122"/>
                <a:cs typeface="Open Sans" pitchFamily="34" charset="-120"/>
              </a:rPr>
              <a:t>CREATE, SHARE AND REUSE INTERACTIVE HTML5 CONTENT</a:t>
            </a:r>
            <a:endParaRPr lang="en-US" sz="4400" dirty="0"/>
          </a:p>
        </p:txBody>
      </p:sp>
      <p:sp>
        <p:nvSpPr>
          <p:cNvPr id="4" name="Text 2"/>
          <p:cNvSpPr/>
          <p:nvPr/>
        </p:nvSpPr>
        <p:spPr>
          <a:xfrm>
            <a:off x="812800" y="3954760"/>
            <a:ext cx="65405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Open Sans" pitchFamily="34" charset="0"/>
                <a:ea typeface="Open Sans" pitchFamily="34" charset="-122"/>
                <a:cs typeface="Open Sans" pitchFamily="34" charset="-120"/>
              </a:rPr>
              <a:t>Free, open-source tools for building engaging learning activities, right in your browser.</a:t>
            </a:r>
            <a:endParaRPr lang="en-US" sz="1800" dirty="0"/>
          </a:p>
        </p:txBody>
      </p:sp>
      <p:sp>
        <p:nvSpPr>
          <p:cNvPr id="5" name="Text 3"/>
          <p:cNvSpPr/>
          <p:nvPr/>
        </p:nvSpPr>
        <p:spPr>
          <a:xfrm>
            <a:off x="812800" y="4848721"/>
            <a:ext cx="2239863" cy="452041"/>
          </a:xfrm>
          <a:prstGeom prst="roundRect">
            <a:avLst>
              <a:gd name="adj" fmla="val 8428"/>
            </a:avLst>
          </a:prstGeom>
          <a:solidFill>
            <a:srgbClr val="D1007C"/>
          </a:solidFill>
          <a:ln/>
        </p:spPr>
        <p:txBody>
          <a:bodyPr wrap="none" lIns="0" tIns="0" rIns="0" bIns="0" rtlCol="0" anchor="ctr">
            <a:normAutofit/>
          </a:bodyPr>
          <a:lstStyle/>
          <a:p>
            <a:pPr algn="ctr" indent="0" marL="0">
              <a:lnSpc>
                <a:spcPts val="1960"/>
              </a:lnSpc>
              <a:buNone/>
            </a:pPr>
            <a:r>
              <a:rPr lang="en-US" sz="1400" b="1" dirty="0">
                <a:solidFill>
                  <a:srgbClr val="FFFFFF"/>
                </a:solidFill>
                <a:latin typeface="Open Sans" pitchFamily="34" charset="0"/>
                <a:ea typeface="Open Sans" pitchFamily="34" charset="-122"/>
                <a:cs typeface="Open Sans" pitchFamily="34" charset="-120"/>
              </a:rPr>
              <a:t>Get started with H5P</a:t>
            </a:r>
            <a:endParaRPr lang="en-US" sz="1400" dirty="0"/>
          </a:p>
        </p:txBody>
      </p:sp>
      <p:sp>
        <p:nvSpPr>
          <p:cNvPr id="6" name="Text 4"/>
          <p:cNvSpPr/>
          <p:nvPr/>
        </p:nvSpPr>
        <p:spPr>
          <a:xfrm>
            <a:off x="3211413" y="4855071"/>
            <a:ext cx="1102221" cy="439341"/>
          </a:xfrm>
          <a:prstGeom prst="roundRect">
            <a:avLst>
              <a:gd name="adj" fmla="val 7227"/>
            </a:avLst>
          </a:prstGeom>
          <a:noFill/>
          <a:ln w="12700">
            <a:solidFill>
              <a:srgbClr val="FFFFFF"/>
            </a:solidFill>
            <a:prstDash val="solid"/>
          </a:ln>
        </p:spPr>
        <p:txBody>
          <a:bodyPr wrap="none" lIns="0" tIns="0" rIns="0" bIns="0" rtlCol="0" anchor="ctr">
            <a:normAutofit/>
          </a:bodyPr>
          <a:lstStyle/>
          <a:p>
            <a:pPr algn="ctr" indent="0" marL="0">
              <a:lnSpc>
                <a:spcPts val="1960"/>
              </a:lnSpc>
              <a:buNone/>
            </a:pPr>
            <a:r>
              <a:rPr lang="en-US" sz="1400" b="1" dirty="0">
                <a:solidFill>
                  <a:srgbClr val="FFFFFF"/>
                </a:solidFill>
                <a:latin typeface="Open Sans" pitchFamily="34" charset="0"/>
                <a:ea typeface="Open Sans" pitchFamily="34" charset="-122"/>
                <a:cs typeface="Open Sans" pitchFamily="34" charset="-120"/>
              </a:rPr>
              <a:t>h5p.org</a:t>
            </a:r>
            <a:endParaRPr lang="en-US" sz="1400" dirty="0"/>
          </a:p>
        </p:txBody>
      </p:sp>
      <p:sp>
        <p:nvSpPr>
          <p:cNvPr id="7" name="Text 5"/>
          <p:cNvSpPr/>
          <p:nvPr/>
        </p:nvSpPr>
        <p:spPr>
          <a:xfrm>
            <a:off x="7883525" y="2193925"/>
            <a:ext cx="1047750" cy="1047750"/>
          </a:xfrm>
          <a:prstGeom prst="roundRect">
            <a:avLst>
              <a:gd name="adj" fmla="val 1515"/>
            </a:avLst>
          </a:prstGeom>
          <a:noFill/>
          <a:ln w="19050">
            <a:solidFill>
              <a:srgbClr val="FFFFFF"/>
            </a:solidFill>
            <a:prstDash val="solid"/>
          </a:ln>
        </p:spPr>
        <p:txBody>
          <a:bodyPr wrap="square" lIns="4875" tIns="4875" rIns="4875" bIns="4875" rtlCol="0" anchor="ctr">
            <a:normAutofit/>
          </a:bodyPr>
          <a:lstStyle/>
          <a:p>
            <a:pPr algn="ctr" indent="0" marL="0">
              <a:lnSpc>
                <a:spcPts val="6160"/>
              </a:lnSpc>
              <a:buNone/>
            </a:pPr>
            <a:r>
              <a:rPr lang="en-US" sz="4400" dirty="0">
                <a:solidFill>
                  <a:srgbClr val="FFFFFF"/>
                </a:solidFill>
                <a:latin typeface="Open Sans" pitchFamily="34" charset="0"/>
                <a:ea typeface="Open Sans" pitchFamily="34" charset="-122"/>
                <a:cs typeface="Open Sans" pitchFamily="34" charset="-120"/>
              </a:rPr>
              <a:t>?</a:t>
            </a:r>
            <a:endParaRPr lang="en-US" sz="4400" dirty="0"/>
          </a:p>
        </p:txBody>
      </p:sp>
      <p:sp>
        <p:nvSpPr>
          <p:cNvPr id="8" name="Text 6"/>
          <p:cNvSpPr/>
          <p:nvPr/>
        </p:nvSpPr>
        <p:spPr>
          <a:xfrm>
            <a:off x="9102725" y="2193925"/>
            <a:ext cx="1047750" cy="1047750"/>
          </a:xfrm>
          <a:prstGeom prst="roundRect">
            <a:avLst>
              <a:gd name="adj" fmla="val 1515"/>
            </a:avLst>
          </a:prstGeom>
          <a:noFill/>
          <a:ln w="19050">
            <a:solidFill>
              <a:srgbClr val="FFFFFF"/>
            </a:solidFill>
            <a:prstDash val="solid"/>
          </a:ln>
        </p:spPr>
        <p:txBody>
          <a:bodyPr wrap="square" lIns="4875" tIns="4875" rIns="4875" bIns="4875" rtlCol="0" anchor="ctr">
            <a:normAutofit/>
          </a:bodyPr>
          <a:lstStyle/>
          <a:p>
            <a:pPr algn="ctr" indent="0" marL="0">
              <a:lnSpc>
                <a:spcPts val="6160"/>
              </a:lnSpc>
              <a:buNone/>
            </a:pPr>
            <a:r>
              <a:rPr lang="en-US" sz="4400" dirty="0">
                <a:solidFill>
                  <a:srgbClr val="FFFFFF"/>
                </a:solidFill>
                <a:latin typeface="Open Sans" pitchFamily="34" charset="0"/>
                <a:ea typeface="Open Sans" pitchFamily="34" charset="-122"/>
                <a:cs typeface="Open Sans" pitchFamily="34" charset="-120"/>
              </a:rPr>
              <a:t>?</a:t>
            </a:r>
            <a:endParaRPr lang="en-US" sz="4400" dirty="0"/>
          </a:p>
        </p:txBody>
      </p:sp>
      <p:sp>
        <p:nvSpPr>
          <p:cNvPr id="9" name="Text 7"/>
          <p:cNvSpPr/>
          <p:nvPr/>
        </p:nvSpPr>
        <p:spPr>
          <a:xfrm>
            <a:off x="10321925" y="2193925"/>
            <a:ext cx="1047750" cy="1047750"/>
          </a:xfrm>
          <a:prstGeom prst="roundRect">
            <a:avLst>
              <a:gd name="adj" fmla="val 1515"/>
            </a:avLst>
          </a:prstGeom>
          <a:noFill/>
          <a:ln w="19050">
            <a:solidFill>
              <a:srgbClr val="FFFFFF"/>
            </a:solidFill>
            <a:prstDash val="solid"/>
          </a:ln>
        </p:spPr>
        <p:txBody>
          <a:bodyPr wrap="square" lIns="4875" tIns="4875" rIns="4875" bIns="4875" rtlCol="0" anchor="ctr">
            <a:normAutofit/>
          </a:bodyPr>
          <a:lstStyle/>
          <a:p>
            <a:pPr algn="ctr" indent="0" marL="0">
              <a:lnSpc>
                <a:spcPts val="6160"/>
              </a:lnSpc>
              <a:buNone/>
            </a:pPr>
            <a:r>
              <a:rPr lang="en-US" sz="4400" dirty="0">
                <a:solidFill>
                  <a:srgbClr val="FFFFFF"/>
                </a:solidFill>
                <a:latin typeface="Open Sans" pitchFamily="34" charset="0"/>
                <a:ea typeface="Open Sans" pitchFamily="34" charset="-122"/>
                <a:cs typeface="Open Sans" pitchFamily="34" charset="-120"/>
              </a:rPr>
              <a:t>?</a:t>
            </a:r>
            <a:endParaRPr lang="en-US" sz="4400" dirty="0"/>
          </a:p>
        </p:txBody>
      </p:sp>
      <p:sp>
        <p:nvSpPr>
          <p:cNvPr id="10" name="Text 8"/>
          <p:cNvSpPr/>
          <p:nvPr/>
        </p:nvSpPr>
        <p:spPr>
          <a:xfrm>
            <a:off x="7883525" y="3413125"/>
            <a:ext cx="1047750" cy="1047750"/>
          </a:xfrm>
          <a:prstGeom prst="roundRect">
            <a:avLst>
              <a:gd name="adj" fmla="val 1515"/>
            </a:avLst>
          </a:prstGeom>
          <a:noFill/>
          <a:ln w="19050">
            <a:solidFill>
              <a:srgbClr val="FFFFFF"/>
            </a:solidFill>
            <a:prstDash val="solid"/>
          </a:ln>
        </p:spPr>
        <p:txBody>
          <a:bodyPr wrap="square" lIns="4875" tIns="4875" rIns="4875" bIns="4875" rtlCol="0" anchor="ctr">
            <a:normAutofit/>
          </a:bodyPr>
          <a:lstStyle/>
          <a:p>
            <a:pPr algn="ctr" indent="0" marL="0">
              <a:lnSpc>
                <a:spcPts val="6160"/>
              </a:lnSpc>
              <a:buNone/>
            </a:pPr>
            <a:r>
              <a:rPr lang="en-US" sz="4400" dirty="0">
                <a:solidFill>
                  <a:srgbClr val="FFFFFF"/>
                </a:solidFill>
                <a:latin typeface="Open Sans" pitchFamily="34" charset="0"/>
                <a:ea typeface="Open Sans" pitchFamily="34" charset="-122"/>
                <a:cs typeface="Open Sans" pitchFamily="34" charset="-120"/>
              </a:rPr>
              <a:t>?</a:t>
            </a:r>
            <a:endParaRPr lang="en-US" sz="4400" dirty="0"/>
          </a:p>
        </p:txBody>
      </p:sp>
      <p:sp>
        <p:nvSpPr>
          <p:cNvPr id="11" name="Shape 9"/>
          <p:cNvSpPr/>
          <p:nvPr/>
        </p:nvSpPr>
        <p:spPr>
          <a:xfrm>
            <a:off x="9102725" y="3413125"/>
            <a:ext cx="1047750" cy="1047750"/>
          </a:xfrm>
          <a:prstGeom prst="roundRect">
            <a:avLst>
              <a:gd name="adj" fmla="val 1515"/>
            </a:avLst>
          </a:prstGeom>
          <a:solidFill>
            <a:srgbClr val="FFFFFF"/>
          </a:solidFill>
          <a:ln w="19050">
            <a:solidFill>
              <a:srgbClr val="FFFFFF"/>
            </a:solidFill>
            <a:prstDash val="solid"/>
          </a:ln>
        </p:spPr>
      </p:sp>
      <p:pic>
        <p:nvPicPr>
          <p:cNvPr id="12" name="Image 0" descr="Check">    </p:cNvPr>
          <p:cNvPicPr>
            <a:picLocks noChangeAspect="1"/>
          </p:cNvPicPr>
          <p:nvPr/>
        </p:nvPicPr>
        <p:blipFill>
          <a:blip r:embed="rId1"/>
          <a:srcRect l="0" r="0" t="0" b="0"/>
          <a:stretch/>
        </p:blipFill>
        <p:spPr>
          <a:xfrm>
            <a:off x="9347200" y="3657600"/>
            <a:ext cx="558800" cy="558800"/>
          </a:xfrm>
          <a:prstGeom prst="rect">
            <a:avLst/>
          </a:prstGeom>
        </p:spPr>
      </p:pic>
      <p:sp>
        <p:nvSpPr>
          <p:cNvPr id="13" name="Text 10"/>
          <p:cNvSpPr/>
          <p:nvPr/>
        </p:nvSpPr>
        <p:spPr>
          <a:xfrm>
            <a:off x="10321925" y="3413125"/>
            <a:ext cx="1047750" cy="1047750"/>
          </a:xfrm>
          <a:prstGeom prst="roundRect">
            <a:avLst>
              <a:gd name="adj" fmla="val 1515"/>
            </a:avLst>
          </a:prstGeom>
          <a:noFill/>
          <a:ln w="19050">
            <a:solidFill>
              <a:srgbClr val="FFFFFF"/>
            </a:solidFill>
            <a:prstDash val="solid"/>
          </a:ln>
        </p:spPr>
        <p:txBody>
          <a:bodyPr wrap="square" lIns="4875" tIns="4875" rIns="4875" bIns="4875" rtlCol="0" anchor="ctr">
            <a:normAutofit/>
          </a:bodyPr>
          <a:lstStyle/>
          <a:p>
            <a:pPr algn="ctr" indent="0" marL="0">
              <a:lnSpc>
                <a:spcPts val="6160"/>
              </a:lnSpc>
              <a:buNone/>
            </a:pPr>
            <a:r>
              <a:rPr lang="en-US" sz="4400" dirty="0">
                <a:solidFill>
                  <a:srgbClr val="FFFFFF"/>
                </a:solidFill>
                <a:latin typeface="Open Sans" pitchFamily="34" charset="0"/>
                <a:ea typeface="Open Sans" pitchFamily="34" charset="-122"/>
                <a:cs typeface="Open Sans" pitchFamily="34" charset="-120"/>
              </a:rPr>
              <a:t>?</a:t>
            </a:r>
            <a:endParaRPr lang="en-US" sz="44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6F7"/>
                </a:solidFill>
                <a:latin typeface="Open Sans" pitchFamily="34" charset="0"/>
                <a:ea typeface="Open Sans" pitchFamily="34" charset="-122"/>
                <a:cs typeface="Open Sans" pitchFamily="34" charset="-120"/>
              </a:rPr>
              <a:t>[Presenter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F6FC5"/>
                </a:solidFill>
                <a:latin typeface="Open Sans" pitchFamily="34" charset="0"/>
                <a:ea typeface="Open Sans" pitchFamily="34" charset="-122"/>
                <a:cs typeface="Open Sans" pitchFamily="34" charset="-120"/>
              </a:rPr>
              <a:t>What is H5P?</a:t>
            </a:r>
            <a:endParaRPr lang="en-US" sz="3200" dirty="0"/>
          </a:p>
        </p:txBody>
      </p:sp>
      <p:pic>
        <p:nvPicPr>
          <p:cNvPr id="3" name="Image 0" descr="line">    </p:cNvPr>
          <p:cNvPicPr>
            <a:picLocks noChangeAspect="1"/>
          </p:cNvPicPr>
          <p:nvPr/>
        </p:nvPicPr>
        <p:blipFill>
          <a:blip r:embed="rId1"/>
          <a:srcRect l="0" r="0" t="0" b="0"/>
          <a:stretch/>
        </p:blipFill>
        <p:spPr>
          <a:xfrm>
            <a:off x="812800" y="1432520"/>
            <a:ext cx="10566400" cy="12700"/>
          </a:xfrm>
          <a:prstGeom prst="rect">
            <a:avLst/>
          </a:prstGeom>
        </p:spPr>
      </p:pic>
      <p:sp>
        <p:nvSpPr>
          <p:cNvPr id="4" name="Text 1"/>
          <p:cNvSpPr/>
          <p:nvPr/>
        </p:nvSpPr>
        <p:spPr>
          <a:xfrm>
            <a:off x="812800" y="18008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33B42"/>
                </a:solidFill>
                <a:latin typeface="Open Sans" pitchFamily="34" charset="0"/>
                <a:ea typeface="Open Sans" pitchFamily="34" charset="-122"/>
                <a:cs typeface="Open Sans" pitchFamily="34" charset="-120"/>
              </a:rPr>
              <a:t>H5P is a free, open-source framework for creating rich interactive content: videos, presentations, quizzes and games that play in any web browser.</a:t>
            </a:r>
            <a:endParaRPr lang="en-US" sz="2000" dirty="0"/>
          </a:p>
        </p:txBody>
      </p:sp>
      <p:sp>
        <p:nvSpPr>
          <p:cNvPr id="5" name="Shape 2"/>
          <p:cNvSpPr/>
          <p:nvPr/>
        </p:nvSpPr>
        <p:spPr>
          <a:xfrm>
            <a:off x="812800" y="4735909"/>
            <a:ext cx="3318867" cy="0"/>
          </a:xfrm>
          <a:prstGeom prst="line">
            <a:avLst/>
          </a:prstGeom>
          <a:noFill/>
          <a:ln w="38100">
            <a:solidFill>
              <a:srgbClr val="D1007C"/>
            </a:solidFill>
            <a:prstDash val="solid"/>
          </a:ln>
        </p:spPr>
      </p:sp>
      <p:sp>
        <p:nvSpPr>
          <p:cNvPr id="6" name="Text 3"/>
          <p:cNvSpPr/>
          <p:nvPr/>
        </p:nvSpPr>
        <p:spPr>
          <a:xfrm>
            <a:off x="812800" y="4958159"/>
            <a:ext cx="341843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Create</a:t>
            </a:r>
            <a:endParaRPr lang="en-US" sz="1800" dirty="0"/>
          </a:p>
        </p:txBody>
      </p:sp>
      <p:sp>
        <p:nvSpPr>
          <p:cNvPr id="7" name="Text 4"/>
          <p:cNvSpPr/>
          <p:nvPr/>
        </p:nvSpPr>
        <p:spPr>
          <a:xfrm>
            <a:off x="812800" y="5308600"/>
            <a:ext cx="34184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5B"/>
                </a:solidFill>
                <a:latin typeface="Open Sans" pitchFamily="34" charset="0"/>
                <a:ea typeface="Open Sans" pitchFamily="34" charset="-122"/>
                <a:cs typeface="Open Sans" pitchFamily="34" charset="-120"/>
              </a:rPr>
              <a:t>Richer HTML5 content in the publishing platforms you already use</a:t>
            </a:r>
            <a:endParaRPr lang="en-US" sz="1500" dirty="0"/>
          </a:p>
        </p:txBody>
      </p:sp>
      <p:sp>
        <p:nvSpPr>
          <p:cNvPr id="8" name="Shape 5"/>
          <p:cNvSpPr/>
          <p:nvPr/>
        </p:nvSpPr>
        <p:spPr>
          <a:xfrm>
            <a:off x="4436467" y="4735909"/>
            <a:ext cx="3318966" cy="0"/>
          </a:xfrm>
          <a:prstGeom prst="line">
            <a:avLst/>
          </a:prstGeom>
          <a:noFill/>
          <a:ln w="38100">
            <a:solidFill>
              <a:srgbClr val="D1007C"/>
            </a:solidFill>
            <a:prstDash val="solid"/>
          </a:ln>
        </p:spPr>
      </p:sp>
      <p:sp>
        <p:nvSpPr>
          <p:cNvPr id="9" name="Text 6"/>
          <p:cNvSpPr/>
          <p:nvPr/>
        </p:nvSpPr>
        <p:spPr>
          <a:xfrm>
            <a:off x="4436467" y="4958159"/>
            <a:ext cx="34185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Share</a:t>
            </a:r>
            <a:endParaRPr lang="en-US" sz="1800" dirty="0"/>
          </a:p>
        </p:txBody>
      </p:sp>
      <p:sp>
        <p:nvSpPr>
          <p:cNvPr id="10" name="Text 7"/>
          <p:cNvSpPr/>
          <p:nvPr/>
        </p:nvSpPr>
        <p:spPr>
          <a:xfrm>
            <a:off x="4436467" y="5308600"/>
            <a:ext cx="341853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5B"/>
                </a:solidFill>
                <a:latin typeface="Open Sans" pitchFamily="34" charset="0"/>
                <a:ea typeface="Open Sans" pitchFamily="34" charset="-122"/>
                <a:cs typeface="Open Sans" pitchFamily="34" charset="-120"/>
              </a:rPr>
              <a:t>Content seamlessly across any H5P-capable site</a:t>
            </a:r>
            <a:endParaRPr lang="en-US" sz="1500" dirty="0"/>
          </a:p>
        </p:txBody>
      </p:sp>
      <p:sp>
        <p:nvSpPr>
          <p:cNvPr id="11" name="Shape 8"/>
          <p:cNvSpPr/>
          <p:nvPr/>
        </p:nvSpPr>
        <p:spPr>
          <a:xfrm>
            <a:off x="8060234" y="4735909"/>
            <a:ext cx="3318966" cy="0"/>
          </a:xfrm>
          <a:prstGeom prst="line">
            <a:avLst/>
          </a:prstGeom>
          <a:noFill/>
          <a:ln w="38100">
            <a:solidFill>
              <a:srgbClr val="D1007C"/>
            </a:solidFill>
            <a:prstDash val="solid"/>
          </a:ln>
        </p:spPr>
      </p:sp>
      <p:sp>
        <p:nvSpPr>
          <p:cNvPr id="12" name="Text 9"/>
          <p:cNvSpPr/>
          <p:nvPr/>
        </p:nvSpPr>
        <p:spPr>
          <a:xfrm>
            <a:off x="8060234" y="4958159"/>
            <a:ext cx="34185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Reuse and modify</a:t>
            </a:r>
            <a:endParaRPr lang="en-US" sz="1800" dirty="0"/>
          </a:p>
        </p:txBody>
      </p:sp>
      <p:sp>
        <p:nvSpPr>
          <p:cNvPr id="13" name="Text 10"/>
          <p:cNvSpPr/>
          <p:nvPr/>
        </p:nvSpPr>
        <p:spPr>
          <a:xfrm>
            <a:off x="8060234" y="5308600"/>
            <a:ext cx="34185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5B"/>
                </a:solidFill>
                <a:latin typeface="Open Sans" pitchFamily="34" charset="0"/>
                <a:ea typeface="Open Sans" pitchFamily="34" charset="-122"/>
                <a:cs typeface="Open Sans" pitchFamily="34" charset="-120"/>
              </a:rPr>
              <a:t>Content in your browser at any time</a:t>
            </a:r>
            <a:endParaRPr lang="en-US" sz="1500" dirty="0"/>
          </a:p>
        </p:txBody>
      </p:sp>
      <p:sp>
        <p:nvSpPr>
          <p:cNvPr id="14" name="Text 11"/>
          <p:cNvSpPr/>
          <p:nvPr/>
        </p:nvSpPr>
        <p:spPr>
          <a:xfrm>
            <a:off x="812800" y="6238280"/>
            <a:ext cx="1678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7C"/>
                </a:solidFill>
                <a:latin typeface="Open Sans" pitchFamily="34" charset="0"/>
                <a:ea typeface="Open Sans" pitchFamily="34" charset="-122"/>
                <a:cs typeface="Open Sans" pitchFamily="34" charset="-120"/>
              </a:rPr>
              <a:t>Introduction to H5P</a:t>
            </a:r>
            <a:endParaRPr lang="en-US" sz="1200" dirty="0"/>
          </a:p>
        </p:txBody>
      </p:sp>
      <p:sp>
        <p:nvSpPr>
          <p:cNvPr id="15" name="Text 12"/>
          <p:cNvSpPr/>
          <p:nvPr/>
        </p:nvSpPr>
        <p:spPr>
          <a:xfrm>
            <a:off x="11241187" y="6238280"/>
            <a:ext cx="138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7C"/>
                </a:solidFill>
                <a:latin typeface="Open Sans" pitchFamily="34" charset="0"/>
                <a:ea typeface="Open Sans" pitchFamily="34" charset="-122"/>
                <a:cs typeface="Open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1007C"/>
        </a:solidFill>
      </p:bgPr>
    </p:bg>
    <p:spTree>
      <p:nvGrpSpPr>
        <p:cNvPr id="1" name=""/>
        <p:cNvGrpSpPr/>
        <p:nvPr/>
      </p:nvGrpSpPr>
      <p:grpSpPr>
        <a:xfrm>
          <a:off x="0" y="0"/>
          <a:ext cx="0" cy="0"/>
          <a:chOff x="0" y="0"/>
          <a:chExt cx="0" cy="0"/>
        </a:xfrm>
      </p:grpSpPr>
      <p:sp>
        <p:nvSpPr>
          <p:cNvPr id="2" name="Text 0"/>
          <p:cNvSpPr/>
          <p:nvPr/>
        </p:nvSpPr>
        <p:spPr>
          <a:xfrm>
            <a:off x="812800" y="21057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BE0EF"/>
                </a:solidFill>
                <a:latin typeface="Open Sans" pitchFamily="34" charset="0"/>
                <a:ea typeface="Open Sans" pitchFamily="34" charset="-122"/>
                <a:cs typeface="Open Sans" pitchFamily="34" charset="-120"/>
              </a:rPr>
              <a:t>THE CORE IDEA</a:t>
            </a:r>
            <a:endParaRPr lang="en-US" sz="1400" dirty="0"/>
          </a:p>
        </p:txBody>
      </p:sp>
      <p:sp>
        <p:nvSpPr>
          <p:cNvPr id="3" name="Text 1"/>
          <p:cNvSpPr/>
          <p:nvPr>
            <p:ph type="title"/>
          </p:nvPr>
        </p:nvSpPr>
        <p:spPr>
          <a:xfrm>
            <a:off x="812800" y="265936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FFFFF"/>
                </a:solidFill>
                <a:latin typeface="Open Sans" pitchFamily="34" charset="0"/>
                <a:ea typeface="Open Sans" pitchFamily="34" charset="-122"/>
                <a:cs typeface="Open Sans" pitchFamily="34" charset="-120"/>
              </a:rPr>
              <a:t>All you need is a web browser and a website with an H5P plugin.</a:t>
            </a:r>
            <a:endParaRPr lang="en-US" sz="4400" dirty="0"/>
          </a:p>
        </p:txBody>
      </p:sp>
      <p:sp>
        <p:nvSpPr>
          <p:cNvPr id="4" name="Text 2"/>
          <p:cNvSpPr/>
          <p:nvPr/>
        </p:nvSpPr>
        <p:spPr>
          <a:xfrm>
            <a:off x="812800" y="41934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Open Sans" pitchFamily="34" charset="0"/>
                <a:ea typeface="Open Sans" pitchFamily="34" charset="-122"/>
                <a:cs typeface="Open Sans" pitchFamily="34" charset="-120"/>
              </a:rPr>
              <a:t>No coding. No extra software. Content works on computers, phones and tablets alike.</a:t>
            </a:r>
            <a:endParaRPr lang="en-US" sz="2000" dirty="0"/>
          </a:p>
        </p:txBody>
      </p:sp>
      <p:sp>
        <p:nvSpPr>
          <p:cNvPr id="5" name="Text 3"/>
          <p:cNvSpPr/>
          <p:nvPr/>
        </p:nvSpPr>
        <p:spPr>
          <a:xfrm>
            <a:off x="812800" y="6238280"/>
            <a:ext cx="1678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E0EF"/>
                </a:solidFill>
                <a:latin typeface="Open Sans" pitchFamily="34" charset="0"/>
                <a:ea typeface="Open Sans" pitchFamily="34" charset="-122"/>
                <a:cs typeface="Open Sans" pitchFamily="34" charset="-120"/>
              </a:rPr>
              <a:t>Introduction to H5P</a:t>
            </a:r>
            <a:endParaRPr lang="en-US" sz="1200" dirty="0"/>
          </a:p>
        </p:txBody>
      </p:sp>
      <p:sp>
        <p:nvSpPr>
          <p:cNvPr id="6" name="Text 4"/>
          <p:cNvSpPr/>
          <p:nvPr/>
        </p:nvSpPr>
        <p:spPr>
          <a:xfrm>
            <a:off x="11241187" y="6238280"/>
            <a:ext cx="138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BE0EF"/>
                </a:solidFill>
                <a:latin typeface="Open Sans" pitchFamily="34" charset="0"/>
                <a:ea typeface="Open Sans" pitchFamily="34" charset="-122"/>
                <a:cs typeface="Open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F6FC5"/>
                </a:solidFill>
                <a:latin typeface="Open Sans" pitchFamily="34" charset="0"/>
                <a:ea typeface="Open Sans" pitchFamily="34" charset="-122"/>
                <a:cs typeface="Open Sans" pitchFamily="34" charset="-120"/>
              </a:rPr>
              <a:t>Content types for every kind of activity</a:t>
            </a:r>
            <a:endParaRPr lang="en-US" sz="3200" dirty="0"/>
          </a:p>
        </p:txBody>
      </p:sp>
      <p:pic>
        <p:nvPicPr>
          <p:cNvPr id="3" name="Image 0" descr="line">    </p:cNvPr>
          <p:cNvPicPr>
            <a:picLocks noChangeAspect="1"/>
          </p:cNvPicPr>
          <p:nvPr/>
        </p:nvPicPr>
        <p:blipFill>
          <a:blip r:embed="rId1"/>
          <a:srcRect l="0" r="0" t="0" b="0"/>
          <a:stretch/>
        </p:blipFill>
        <p:spPr>
          <a:xfrm>
            <a:off x="812800" y="1432520"/>
            <a:ext cx="10566400" cy="12700"/>
          </a:xfrm>
          <a:prstGeom prst="rect">
            <a:avLst/>
          </a:prstGeom>
        </p:spPr>
      </p:pic>
      <p:sp>
        <p:nvSpPr>
          <p:cNvPr id="4" name="Shape 1"/>
          <p:cNvSpPr/>
          <p:nvPr/>
        </p:nvSpPr>
        <p:spPr>
          <a:xfrm>
            <a:off x="815975" y="1803995"/>
            <a:ext cx="2482850" cy="1509911"/>
          </a:xfrm>
          <a:prstGeom prst="roundRect">
            <a:avLst>
              <a:gd name="adj" fmla="val 1472"/>
            </a:avLst>
          </a:prstGeom>
          <a:solidFill>
            <a:srgbClr val="FFFFFF"/>
          </a:solidFill>
          <a:ln w="6350">
            <a:solidFill>
              <a:srgbClr val="DDE2E7"/>
            </a:solidFill>
            <a:prstDash val="solid"/>
          </a:ln>
        </p:spPr>
      </p:sp>
      <p:pic>
        <p:nvPicPr>
          <p:cNvPr id="5" name="Image 1" descr="Play">    </p:cNvPr>
          <p:cNvPicPr>
            <a:picLocks noChangeAspect="1"/>
          </p:cNvPicPr>
          <p:nvPr/>
        </p:nvPicPr>
        <p:blipFill>
          <a:blip r:embed="rId2"/>
          <a:srcRect l="0" r="0" t="0" b="0"/>
          <a:stretch/>
        </p:blipFill>
        <p:spPr>
          <a:xfrm>
            <a:off x="996950" y="1984970"/>
            <a:ext cx="355600" cy="355600"/>
          </a:xfrm>
          <a:prstGeom prst="rect">
            <a:avLst/>
          </a:prstGeom>
        </p:spPr>
      </p:pic>
      <p:sp>
        <p:nvSpPr>
          <p:cNvPr id="6" name="Text 2"/>
          <p:cNvSpPr/>
          <p:nvPr/>
        </p:nvSpPr>
        <p:spPr>
          <a:xfrm>
            <a:off x="996950" y="241677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Interactive Video</a:t>
            </a:r>
            <a:endParaRPr lang="en-US" sz="1400" dirty="0"/>
          </a:p>
        </p:txBody>
      </p:sp>
      <p:sp>
        <p:nvSpPr>
          <p:cNvPr id="7" name="Text 3"/>
          <p:cNvSpPr/>
          <p:nvPr/>
        </p:nvSpPr>
        <p:spPr>
          <a:xfrm>
            <a:off x="996950" y="2706291"/>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Add questions and hotspots to a video</a:t>
            </a:r>
            <a:endParaRPr lang="en-US" sz="1200" dirty="0"/>
          </a:p>
        </p:txBody>
      </p:sp>
      <p:sp>
        <p:nvSpPr>
          <p:cNvPr id="8" name="Shape 4"/>
          <p:cNvSpPr/>
          <p:nvPr/>
        </p:nvSpPr>
        <p:spPr>
          <a:xfrm>
            <a:off x="3508375" y="1803995"/>
            <a:ext cx="2482850" cy="1509911"/>
          </a:xfrm>
          <a:prstGeom prst="roundRect">
            <a:avLst>
              <a:gd name="adj" fmla="val 1472"/>
            </a:avLst>
          </a:prstGeom>
          <a:solidFill>
            <a:srgbClr val="FFFFFF"/>
          </a:solidFill>
          <a:ln w="6350">
            <a:solidFill>
              <a:srgbClr val="DDE2E7"/>
            </a:solidFill>
            <a:prstDash val="solid"/>
          </a:ln>
        </p:spPr>
      </p:sp>
      <p:pic>
        <p:nvPicPr>
          <p:cNvPr id="9" name="Image 2" descr="Book">    </p:cNvPr>
          <p:cNvPicPr>
            <a:picLocks noChangeAspect="1"/>
          </p:cNvPicPr>
          <p:nvPr/>
        </p:nvPicPr>
        <p:blipFill>
          <a:blip r:embed="rId3"/>
          <a:srcRect l="0" r="0" t="0" b="0"/>
          <a:stretch/>
        </p:blipFill>
        <p:spPr>
          <a:xfrm>
            <a:off x="3689350" y="1984970"/>
            <a:ext cx="355600" cy="355600"/>
          </a:xfrm>
          <a:prstGeom prst="rect">
            <a:avLst/>
          </a:prstGeom>
        </p:spPr>
      </p:pic>
      <p:sp>
        <p:nvSpPr>
          <p:cNvPr id="10" name="Text 5"/>
          <p:cNvSpPr/>
          <p:nvPr/>
        </p:nvSpPr>
        <p:spPr>
          <a:xfrm>
            <a:off x="3689350" y="241677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Course Presentation</a:t>
            </a:r>
            <a:endParaRPr lang="en-US" sz="1400" dirty="0"/>
          </a:p>
        </p:txBody>
      </p:sp>
      <p:sp>
        <p:nvSpPr>
          <p:cNvPr id="11" name="Text 6"/>
          <p:cNvSpPr/>
          <p:nvPr/>
        </p:nvSpPr>
        <p:spPr>
          <a:xfrm>
            <a:off x="3689350" y="270629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Slides with built-in activities</a:t>
            </a:r>
            <a:endParaRPr lang="en-US" sz="1200" dirty="0"/>
          </a:p>
        </p:txBody>
      </p:sp>
      <p:sp>
        <p:nvSpPr>
          <p:cNvPr id="12" name="Shape 7"/>
          <p:cNvSpPr/>
          <p:nvPr/>
        </p:nvSpPr>
        <p:spPr>
          <a:xfrm>
            <a:off x="6200775" y="1803995"/>
            <a:ext cx="2482850" cy="1509911"/>
          </a:xfrm>
          <a:prstGeom prst="roundRect">
            <a:avLst>
              <a:gd name="adj" fmla="val 1472"/>
            </a:avLst>
          </a:prstGeom>
          <a:solidFill>
            <a:srgbClr val="FFFFFF"/>
          </a:solidFill>
          <a:ln w="6350">
            <a:solidFill>
              <a:srgbClr val="DDE2E7"/>
            </a:solidFill>
            <a:prstDash val="solid"/>
          </a:ln>
        </p:spPr>
      </p:sp>
      <p:pic>
        <p:nvPicPr>
          <p:cNvPr id="13" name="Image 3" descr="Link">    </p:cNvPr>
          <p:cNvPicPr>
            <a:picLocks noChangeAspect="1"/>
          </p:cNvPicPr>
          <p:nvPr/>
        </p:nvPicPr>
        <p:blipFill>
          <a:blip r:embed="rId4"/>
          <a:srcRect l="0" r="0" t="0" b="0"/>
          <a:stretch/>
        </p:blipFill>
        <p:spPr>
          <a:xfrm>
            <a:off x="6381750" y="1984970"/>
            <a:ext cx="355600" cy="355600"/>
          </a:xfrm>
          <a:prstGeom prst="rect">
            <a:avLst/>
          </a:prstGeom>
        </p:spPr>
      </p:pic>
      <p:sp>
        <p:nvSpPr>
          <p:cNvPr id="14" name="Text 8"/>
          <p:cNvSpPr/>
          <p:nvPr/>
        </p:nvSpPr>
        <p:spPr>
          <a:xfrm>
            <a:off x="6381750" y="241677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Branching Scenario</a:t>
            </a:r>
            <a:endParaRPr lang="en-US" sz="1400" dirty="0"/>
          </a:p>
        </p:txBody>
      </p:sp>
      <p:sp>
        <p:nvSpPr>
          <p:cNvPr id="15" name="Text 9"/>
          <p:cNvSpPr/>
          <p:nvPr/>
        </p:nvSpPr>
        <p:spPr>
          <a:xfrm>
            <a:off x="6381750" y="2706291"/>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Choose-your-own-path learning</a:t>
            </a:r>
            <a:endParaRPr lang="en-US" sz="1200" dirty="0"/>
          </a:p>
        </p:txBody>
      </p:sp>
      <p:sp>
        <p:nvSpPr>
          <p:cNvPr id="16" name="Shape 10"/>
          <p:cNvSpPr/>
          <p:nvPr/>
        </p:nvSpPr>
        <p:spPr>
          <a:xfrm>
            <a:off x="8893175" y="1803995"/>
            <a:ext cx="2482850" cy="1509911"/>
          </a:xfrm>
          <a:prstGeom prst="roundRect">
            <a:avLst>
              <a:gd name="adj" fmla="val 1472"/>
            </a:avLst>
          </a:prstGeom>
          <a:solidFill>
            <a:srgbClr val="FFFFFF"/>
          </a:solidFill>
          <a:ln w="6350">
            <a:solidFill>
              <a:srgbClr val="DDE2E7"/>
            </a:solidFill>
            <a:prstDash val="solid"/>
          </a:ln>
        </p:spPr>
      </p:sp>
      <p:pic>
        <p:nvPicPr>
          <p:cNvPr id="17" name="Image 4" descr="CheckCircle">    </p:cNvPr>
          <p:cNvPicPr>
            <a:picLocks noChangeAspect="1"/>
          </p:cNvPicPr>
          <p:nvPr/>
        </p:nvPicPr>
        <p:blipFill>
          <a:blip r:embed="rId5"/>
          <a:srcRect l="0" r="0" t="0" b="0"/>
          <a:stretch/>
        </p:blipFill>
        <p:spPr>
          <a:xfrm>
            <a:off x="9074150" y="1984970"/>
            <a:ext cx="355600" cy="355600"/>
          </a:xfrm>
          <a:prstGeom prst="rect">
            <a:avLst/>
          </a:prstGeom>
        </p:spPr>
      </p:pic>
      <p:sp>
        <p:nvSpPr>
          <p:cNvPr id="18" name="Text 11"/>
          <p:cNvSpPr/>
          <p:nvPr/>
        </p:nvSpPr>
        <p:spPr>
          <a:xfrm>
            <a:off x="9074150" y="241677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Question Set</a:t>
            </a:r>
            <a:endParaRPr lang="en-US" sz="1400" dirty="0"/>
          </a:p>
        </p:txBody>
      </p:sp>
      <p:sp>
        <p:nvSpPr>
          <p:cNvPr id="19" name="Text 12"/>
          <p:cNvSpPr/>
          <p:nvPr/>
        </p:nvSpPr>
        <p:spPr>
          <a:xfrm>
            <a:off x="9074150" y="270629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Mixed quizzes with scoring</a:t>
            </a:r>
            <a:endParaRPr lang="en-US" sz="1200" dirty="0"/>
          </a:p>
        </p:txBody>
      </p:sp>
      <p:sp>
        <p:nvSpPr>
          <p:cNvPr id="20" name="Shape 13"/>
          <p:cNvSpPr/>
          <p:nvPr/>
        </p:nvSpPr>
        <p:spPr>
          <a:xfrm>
            <a:off x="815975" y="3523456"/>
            <a:ext cx="2482850" cy="1509911"/>
          </a:xfrm>
          <a:prstGeom prst="roundRect">
            <a:avLst>
              <a:gd name="adj" fmla="val 1472"/>
            </a:avLst>
          </a:prstGeom>
          <a:solidFill>
            <a:srgbClr val="FFFFFF"/>
          </a:solidFill>
          <a:ln w="6350">
            <a:solidFill>
              <a:srgbClr val="DDE2E7"/>
            </a:solidFill>
            <a:prstDash val="solid"/>
          </a:ln>
        </p:spPr>
      </p:sp>
      <p:pic>
        <p:nvPicPr>
          <p:cNvPr id="21" name="Image 5" descr="Activity">    </p:cNvPr>
          <p:cNvPicPr>
            <a:picLocks noChangeAspect="1"/>
          </p:cNvPicPr>
          <p:nvPr/>
        </p:nvPicPr>
        <p:blipFill>
          <a:blip r:embed="rId6"/>
          <a:srcRect l="0" r="0" t="0" b="0"/>
          <a:stretch/>
        </p:blipFill>
        <p:spPr>
          <a:xfrm>
            <a:off x="996950" y="3704431"/>
            <a:ext cx="355600" cy="355600"/>
          </a:xfrm>
          <a:prstGeom prst="rect">
            <a:avLst/>
          </a:prstGeom>
        </p:spPr>
      </p:pic>
      <p:sp>
        <p:nvSpPr>
          <p:cNvPr id="22" name="Text 14"/>
          <p:cNvSpPr/>
          <p:nvPr/>
        </p:nvSpPr>
        <p:spPr>
          <a:xfrm>
            <a:off x="996950" y="413623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Drag and Drop</a:t>
            </a:r>
            <a:endParaRPr lang="en-US" sz="1400" dirty="0"/>
          </a:p>
        </p:txBody>
      </p:sp>
      <p:sp>
        <p:nvSpPr>
          <p:cNvPr id="23" name="Text 15"/>
          <p:cNvSpPr/>
          <p:nvPr/>
        </p:nvSpPr>
        <p:spPr>
          <a:xfrm>
            <a:off x="996950" y="4425752"/>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Sort and match items on an image</a:t>
            </a:r>
            <a:endParaRPr lang="en-US" sz="1200" dirty="0"/>
          </a:p>
        </p:txBody>
      </p:sp>
      <p:sp>
        <p:nvSpPr>
          <p:cNvPr id="24" name="Shape 16"/>
          <p:cNvSpPr/>
          <p:nvPr/>
        </p:nvSpPr>
        <p:spPr>
          <a:xfrm>
            <a:off x="3508375" y="3523456"/>
            <a:ext cx="2482850" cy="1509911"/>
          </a:xfrm>
          <a:prstGeom prst="roundRect">
            <a:avLst>
              <a:gd name="adj" fmla="val 1472"/>
            </a:avLst>
          </a:prstGeom>
          <a:solidFill>
            <a:srgbClr val="FFFFFF"/>
          </a:solidFill>
          <a:ln w="6350">
            <a:solidFill>
              <a:srgbClr val="DDE2E7"/>
            </a:solidFill>
            <a:prstDash val="solid"/>
          </a:ln>
        </p:spPr>
      </p:sp>
      <p:pic>
        <p:nvPicPr>
          <p:cNvPr id="25" name="Image 6" descr="Lightbulb">    </p:cNvPr>
          <p:cNvPicPr>
            <a:picLocks noChangeAspect="1"/>
          </p:cNvPicPr>
          <p:nvPr/>
        </p:nvPicPr>
        <p:blipFill>
          <a:blip r:embed="rId7"/>
          <a:srcRect l="0" r="0" t="0" b="0"/>
          <a:stretch/>
        </p:blipFill>
        <p:spPr>
          <a:xfrm>
            <a:off x="3689350" y="3704431"/>
            <a:ext cx="355600" cy="355600"/>
          </a:xfrm>
          <a:prstGeom prst="rect">
            <a:avLst/>
          </a:prstGeom>
        </p:spPr>
      </p:pic>
      <p:sp>
        <p:nvSpPr>
          <p:cNvPr id="26" name="Text 17"/>
          <p:cNvSpPr/>
          <p:nvPr/>
        </p:nvSpPr>
        <p:spPr>
          <a:xfrm>
            <a:off x="3689350" y="413623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Flashcards</a:t>
            </a:r>
            <a:endParaRPr lang="en-US" sz="1400" dirty="0"/>
          </a:p>
        </p:txBody>
      </p:sp>
      <p:sp>
        <p:nvSpPr>
          <p:cNvPr id="27" name="Text 18"/>
          <p:cNvSpPr/>
          <p:nvPr/>
        </p:nvSpPr>
        <p:spPr>
          <a:xfrm>
            <a:off x="3689350" y="4425752"/>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Quick recall practice with images</a:t>
            </a:r>
            <a:endParaRPr lang="en-US" sz="1200" dirty="0"/>
          </a:p>
        </p:txBody>
      </p:sp>
      <p:sp>
        <p:nvSpPr>
          <p:cNvPr id="28" name="Shape 19"/>
          <p:cNvSpPr/>
          <p:nvPr/>
        </p:nvSpPr>
        <p:spPr>
          <a:xfrm>
            <a:off x="6200775" y="3523456"/>
            <a:ext cx="2482850" cy="1509911"/>
          </a:xfrm>
          <a:prstGeom prst="roundRect">
            <a:avLst>
              <a:gd name="adj" fmla="val 1472"/>
            </a:avLst>
          </a:prstGeom>
          <a:solidFill>
            <a:srgbClr val="FFFFFF"/>
          </a:solidFill>
          <a:ln w="6350">
            <a:solidFill>
              <a:srgbClr val="DDE2E7"/>
            </a:solidFill>
            <a:prstDash val="solid"/>
          </a:ln>
        </p:spPr>
      </p:sp>
      <p:pic>
        <p:nvPicPr>
          <p:cNvPr id="29" name="Image 7" descr="Search">    </p:cNvPr>
          <p:cNvPicPr>
            <a:picLocks noChangeAspect="1"/>
          </p:cNvPicPr>
          <p:nvPr/>
        </p:nvPicPr>
        <p:blipFill>
          <a:blip r:embed="rId8"/>
          <a:srcRect l="0" r="0" t="0" b="0"/>
          <a:stretch/>
        </p:blipFill>
        <p:spPr>
          <a:xfrm>
            <a:off x="6381750" y="3704431"/>
            <a:ext cx="355600" cy="355600"/>
          </a:xfrm>
          <a:prstGeom prst="rect">
            <a:avLst/>
          </a:prstGeom>
        </p:spPr>
      </p:pic>
      <p:sp>
        <p:nvSpPr>
          <p:cNvPr id="30" name="Text 20"/>
          <p:cNvSpPr/>
          <p:nvPr/>
        </p:nvSpPr>
        <p:spPr>
          <a:xfrm>
            <a:off x="6381750" y="413623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Image Hotspots</a:t>
            </a:r>
            <a:endParaRPr lang="en-US" sz="1400" dirty="0"/>
          </a:p>
        </p:txBody>
      </p:sp>
      <p:sp>
        <p:nvSpPr>
          <p:cNvPr id="31" name="Text 21"/>
          <p:cNvSpPr/>
          <p:nvPr/>
        </p:nvSpPr>
        <p:spPr>
          <a:xfrm>
            <a:off x="6381750" y="4425752"/>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Explore a picture point by point</a:t>
            </a:r>
            <a:endParaRPr lang="en-US" sz="1200" dirty="0"/>
          </a:p>
        </p:txBody>
      </p:sp>
      <p:sp>
        <p:nvSpPr>
          <p:cNvPr id="32" name="Shape 22"/>
          <p:cNvSpPr/>
          <p:nvPr/>
        </p:nvSpPr>
        <p:spPr>
          <a:xfrm>
            <a:off x="8893175" y="3523456"/>
            <a:ext cx="2482850" cy="1509911"/>
          </a:xfrm>
          <a:prstGeom prst="roundRect">
            <a:avLst>
              <a:gd name="adj" fmla="val 1472"/>
            </a:avLst>
          </a:prstGeom>
          <a:solidFill>
            <a:srgbClr val="FFFFFF"/>
          </a:solidFill>
          <a:ln w="6350">
            <a:solidFill>
              <a:srgbClr val="DDE2E7"/>
            </a:solidFill>
            <a:prstDash val="solid"/>
          </a:ln>
        </p:spPr>
      </p:sp>
      <p:pic>
        <p:nvPicPr>
          <p:cNvPr id="33" name="Image 8" descr="Clock">    </p:cNvPr>
          <p:cNvPicPr>
            <a:picLocks noChangeAspect="1"/>
          </p:cNvPicPr>
          <p:nvPr/>
        </p:nvPicPr>
        <p:blipFill>
          <a:blip r:embed="rId9"/>
          <a:srcRect l="0" r="0" t="0" b="0"/>
          <a:stretch/>
        </p:blipFill>
        <p:spPr>
          <a:xfrm>
            <a:off x="9074150" y="3704431"/>
            <a:ext cx="355600" cy="355600"/>
          </a:xfrm>
          <a:prstGeom prst="rect">
            <a:avLst/>
          </a:prstGeom>
        </p:spPr>
      </p:pic>
      <p:sp>
        <p:nvSpPr>
          <p:cNvPr id="34" name="Text 23"/>
          <p:cNvSpPr/>
          <p:nvPr/>
        </p:nvSpPr>
        <p:spPr>
          <a:xfrm>
            <a:off x="9074150" y="4136231"/>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33B42"/>
                </a:solidFill>
                <a:latin typeface="Open Sans" pitchFamily="34" charset="0"/>
                <a:ea typeface="Open Sans" pitchFamily="34" charset="-122"/>
                <a:cs typeface="Open Sans" pitchFamily="34" charset="-120"/>
              </a:rPr>
              <a:t>Timeline</a:t>
            </a:r>
            <a:endParaRPr lang="en-US" sz="1400" dirty="0"/>
          </a:p>
        </p:txBody>
      </p:sp>
      <p:sp>
        <p:nvSpPr>
          <p:cNvPr id="35" name="Text 24"/>
          <p:cNvSpPr/>
          <p:nvPr/>
        </p:nvSpPr>
        <p:spPr>
          <a:xfrm>
            <a:off x="9074150" y="44257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Open Sans" pitchFamily="34" charset="0"/>
                <a:ea typeface="Open Sans" pitchFamily="34" charset="-122"/>
                <a:cs typeface="Open Sans" pitchFamily="34" charset="-120"/>
              </a:rPr>
              <a:t>Events in order, with media</a:t>
            </a:r>
            <a:endParaRPr lang="en-US" sz="1200" dirty="0"/>
          </a:p>
        </p:txBody>
      </p:sp>
      <p:sp>
        <p:nvSpPr>
          <p:cNvPr id="36" name="Text 25"/>
          <p:cNvSpPr/>
          <p:nvPr/>
        </p:nvSpPr>
        <p:spPr>
          <a:xfrm>
            <a:off x="812800" y="6238280"/>
            <a:ext cx="4554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7C"/>
                </a:solidFill>
                <a:latin typeface="Open Sans" pitchFamily="34" charset="0"/>
                <a:ea typeface="Open Sans" pitchFamily="34" charset="-122"/>
                <a:cs typeface="Open Sans" pitchFamily="34" charset="-120"/>
              </a:rPr>
              <a:t>Introduction to H5P · See all content types on h5p.org</a:t>
            </a:r>
            <a:endParaRPr lang="en-US" sz="1200" dirty="0"/>
          </a:p>
        </p:txBody>
      </p:sp>
      <p:sp>
        <p:nvSpPr>
          <p:cNvPr id="37" name="Text 26"/>
          <p:cNvSpPr/>
          <p:nvPr/>
        </p:nvSpPr>
        <p:spPr>
          <a:xfrm>
            <a:off x="11241187" y="6238280"/>
            <a:ext cx="138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7C"/>
                </a:solidFill>
                <a:latin typeface="Open Sans" pitchFamily="34" charset="0"/>
                <a:ea typeface="Open Sans" pitchFamily="34" charset="-122"/>
                <a:cs typeface="Open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F6FC5"/>
                </a:solidFill>
                <a:latin typeface="Open Sans" pitchFamily="34" charset="0"/>
                <a:ea typeface="Open Sans" pitchFamily="34" charset="-122"/>
                <a:cs typeface="Open Sans" pitchFamily="34" charset="-120"/>
              </a:rPr>
              <a:t>Where H5P runs</a:t>
            </a:r>
            <a:endParaRPr lang="en-US" sz="3200" dirty="0"/>
          </a:p>
        </p:txBody>
      </p:sp>
      <p:pic>
        <p:nvPicPr>
          <p:cNvPr id="3" name="Image 0" descr="line">    </p:cNvPr>
          <p:cNvPicPr>
            <a:picLocks noChangeAspect="1"/>
          </p:cNvPicPr>
          <p:nvPr/>
        </p:nvPicPr>
        <p:blipFill>
          <a:blip r:embed="rId1"/>
          <a:srcRect l="0" r="0" t="0" b="0"/>
          <a:stretch/>
        </p:blipFill>
        <p:spPr>
          <a:xfrm>
            <a:off x="812800" y="1432520"/>
            <a:ext cx="10566400" cy="12700"/>
          </a:xfrm>
          <a:prstGeom prst="rect">
            <a:avLst/>
          </a:prstGeom>
        </p:spPr>
      </p:pic>
      <p:sp>
        <p:nvSpPr>
          <p:cNvPr id="4" name="Shape 1"/>
          <p:cNvSpPr/>
          <p:nvPr/>
        </p:nvSpPr>
        <p:spPr>
          <a:xfrm>
            <a:off x="815975" y="1803995"/>
            <a:ext cx="5124450" cy="2393752"/>
          </a:xfrm>
          <a:prstGeom prst="roundRect">
            <a:avLst>
              <a:gd name="adj" fmla="val 928"/>
            </a:avLst>
          </a:prstGeom>
          <a:noFill/>
          <a:ln w="6350">
            <a:solidFill>
              <a:srgbClr val="C9CCD0"/>
            </a:solidFill>
            <a:prstDash val="solid"/>
          </a:ln>
        </p:spPr>
      </p:sp>
      <p:sp>
        <p:nvSpPr>
          <p:cNvPr id="5" name="Text 2"/>
          <p:cNvSpPr/>
          <p:nvPr/>
        </p:nvSpPr>
        <p:spPr>
          <a:xfrm>
            <a:off x="1073150" y="2061170"/>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Free plugins</a:t>
            </a:r>
            <a:endParaRPr lang="en-US" sz="1800" dirty="0"/>
          </a:p>
        </p:txBody>
      </p:sp>
      <p:sp>
        <p:nvSpPr>
          <p:cNvPr id="6" name="Text 3"/>
          <p:cNvSpPr/>
          <p:nvPr/>
        </p:nvSpPr>
        <p:spPr>
          <a:xfrm>
            <a:off x="1073150" y="2462411"/>
            <a:ext cx="474840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5B"/>
                </a:solidFill>
                <a:latin typeface="Open Sans" pitchFamily="34" charset="0"/>
                <a:ea typeface="Open Sans" pitchFamily="34" charset="-122"/>
                <a:cs typeface="Open Sans" pitchFamily="34" charset="-120"/>
              </a:rPr>
              <a:t>Install H5P on your own site and create content right there.</a:t>
            </a:r>
            <a:endParaRPr lang="en-US" sz="1500" dirty="0"/>
          </a:p>
        </p:txBody>
      </p:sp>
      <p:sp>
        <p:nvSpPr>
          <p:cNvPr id="7" name="Text 4"/>
          <p:cNvSpPr/>
          <p:nvPr/>
        </p:nvSpPr>
        <p:spPr>
          <a:xfrm>
            <a:off x="1079500" y="3129161"/>
            <a:ext cx="1176933"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WordPress</a:t>
            </a:r>
            <a:endParaRPr lang="en-US" sz="1300" dirty="0"/>
          </a:p>
        </p:txBody>
      </p:sp>
      <p:sp>
        <p:nvSpPr>
          <p:cNvPr id="8" name="Text 5"/>
          <p:cNvSpPr/>
          <p:nvPr/>
        </p:nvSpPr>
        <p:spPr>
          <a:xfrm>
            <a:off x="2370733" y="3129161"/>
            <a:ext cx="915095"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Moodle</a:t>
            </a:r>
            <a:endParaRPr lang="en-US" sz="1300" dirty="0"/>
          </a:p>
        </p:txBody>
      </p:sp>
      <p:sp>
        <p:nvSpPr>
          <p:cNvPr id="9" name="Text 6"/>
          <p:cNvSpPr/>
          <p:nvPr/>
        </p:nvSpPr>
        <p:spPr>
          <a:xfrm>
            <a:off x="3400127" y="3129161"/>
            <a:ext cx="859135"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Drupal</a:t>
            </a:r>
            <a:endParaRPr lang="en-US" sz="1300" dirty="0"/>
          </a:p>
        </p:txBody>
      </p:sp>
      <p:sp>
        <p:nvSpPr>
          <p:cNvPr id="10" name="Shape 7"/>
          <p:cNvSpPr/>
          <p:nvPr/>
        </p:nvSpPr>
        <p:spPr>
          <a:xfrm>
            <a:off x="6251575" y="1803995"/>
            <a:ext cx="5124450" cy="2393752"/>
          </a:xfrm>
          <a:prstGeom prst="roundRect">
            <a:avLst>
              <a:gd name="adj" fmla="val 928"/>
            </a:avLst>
          </a:prstGeom>
          <a:noFill/>
          <a:ln w="6350">
            <a:solidFill>
              <a:srgbClr val="C9CCD0"/>
            </a:solidFill>
            <a:prstDash val="solid"/>
          </a:ln>
        </p:spPr>
      </p:sp>
      <p:sp>
        <p:nvSpPr>
          <p:cNvPr id="11" name="Text 8"/>
          <p:cNvSpPr/>
          <p:nvPr/>
        </p:nvSpPr>
        <p:spPr>
          <a:xfrm>
            <a:off x="6508750" y="2061170"/>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H5P.com (paid service)</a:t>
            </a:r>
            <a:endParaRPr lang="en-US" sz="1800" dirty="0"/>
          </a:p>
        </p:txBody>
      </p:sp>
      <p:sp>
        <p:nvSpPr>
          <p:cNvPr id="12" name="Text 9"/>
          <p:cNvSpPr/>
          <p:nvPr/>
        </p:nvSpPr>
        <p:spPr>
          <a:xfrm>
            <a:off x="6508750" y="2462411"/>
            <a:ext cx="474840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5B"/>
                </a:solidFill>
                <a:latin typeface="Open Sans" pitchFamily="34" charset="0"/>
                <a:ea typeface="Open Sans" pitchFamily="34" charset="-122"/>
                <a:cs typeface="Open Sans" pitchFamily="34" charset="-120"/>
              </a:rPr>
              <a:t>Hosted authoring that connects to your LMS through LTI.</a:t>
            </a:r>
            <a:endParaRPr lang="en-US" sz="1500" dirty="0"/>
          </a:p>
        </p:txBody>
      </p:sp>
      <p:sp>
        <p:nvSpPr>
          <p:cNvPr id="13" name="Text 10"/>
          <p:cNvSpPr/>
          <p:nvPr/>
        </p:nvSpPr>
        <p:spPr>
          <a:xfrm>
            <a:off x="6515100" y="3129161"/>
            <a:ext cx="887016"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Canvas</a:t>
            </a:r>
            <a:endParaRPr lang="en-US" sz="1300" dirty="0"/>
          </a:p>
        </p:txBody>
      </p:sp>
      <p:sp>
        <p:nvSpPr>
          <p:cNvPr id="14" name="Text 11"/>
          <p:cNvSpPr/>
          <p:nvPr/>
        </p:nvSpPr>
        <p:spPr>
          <a:xfrm>
            <a:off x="7516416" y="3129161"/>
            <a:ext cx="1261170"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Brightspace</a:t>
            </a:r>
            <a:endParaRPr lang="en-US" sz="1300" dirty="0"/>
          </a:p>
        </p:txBody>
      </p:sp>
      <p:sp>
        <p:nvSpPr>
          <p:cNvPr id="15" name="Text 12"/>
          <p:cNvSpPr/>
          <p:nvPr/>
        </p:nvSpPr>
        <p:spPr>
          <a:xfrm>
            <a:off x="8891885" y="3129161"/>
            <a:ext cx="1217811"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Blackboard</a:t>
            </a:r>
            <a:endParaRPr lang="en-US" sz="1300" dirty="0"/>
          </a:p>
        </p:txBody>
      </p:sp>
      <p:sp>
        <p:nvSpPr>
          <p:cNvPr id="16" name="Text 13"/>
          <p:cNvSpPr/>
          <p:nvPr/>
        </p:nvSpPr>
        <p:spPr>
          <a:xfrm>
            <a:off x="6515100" y="3588841"/>
            <a:ext cx="915095" cy="345380"/>
          </a:xfrm>
          <a:prstGeom prst="roundRect">
            <a:avLst>
              <a:gd name="adj" fmla="val 5516"/>
            </a:avLst>
          </a:prstGeom>
          <a:noFill/>
          <a:ln w="12700">
            <a:solidFill>
              <a:srgbClr val="D1007C"/>
            </a:solidFill>
            <a:prstDash val="solid"/>
          </a:ln>
        </p:spPr>
        <p:txBody>
          <a:bodyPr wrap="none" lIns="0" tIns="0" rIns="0" bIns="0" rtlCol="0" anchor="ctr">
            <a:normAutofit/>
          </a:bodyPr>
          <a:lstStyle/>
          <a:p>
            <a:pPr algn="ctr" indent="0" marL="0">
              <a:lnSpc>
                <a:spcPts val="1820"/>
              </a:lnSpc>
              <a:buNone/>
            </a:pPr>
            <a:r>
              <a:rPr lang="en-US" sz="1300" b="1" dirty="0">
                <a:solidFill>
                  <a:srgbClr val="D1007C"/>
                </a:solidFill>
                <a:latin typeface="Open Sans" pitchFamily="34" charset="0"/>
                <a:ea typeface="Open Sans" pitchFamily="34" charset="-122"/>
                <a:cs typeface="Open Sans" pitchFamily="34" charset="-120"/>
              </a:rPr>
              <a:t>Moodle</a:t>
            </a:r>
            <a:endParaRPr lang="en-US" sz="1300" dirty="0"/>
          </a:p>
        </p:txBody>
      </p:sp>
      <p:sp>
        <p:nvSpPr>
          <p:cNvPr id="17" name="Text 14"/>
          <p:cNvSpPr/>
          <p:nvPr/>
        </p:nvSpPr>
        <p:spPr>
          <a:xfrm>
            <a:off x="812800" y="455652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33B42"/>
                </a:solidFill>
                <a:latin typeface="Open Sans" pitchFamily="34" charset="0"/>
                <a:ea typeface="Open Sans" pitchFamily="34" charset="-122"/>
                <a:cs typeface="Open Sans" pitchFamily="34" charset="-120"/>
              </a:rPr>
              <a:t>Plus:</a:t>
            </a:r>
            <a:r>
              <a:rPr lang="en-US" sz="1600" dirty="0">
                <a:solidFill>
                  <a:srgbClr val="333B42"/>
                </a:solidFill>
                <a:latin typeface="Open Sans" pitchFamily="34" charset="0"/>
                <a:ea typeface="Open Sans" pitchFamily="34" charset="-122"/>
                <a:cs typeface="Open Sans" pitchFamily="34" charset="-120"/>
              </a:rPr>
              <a:t> any platform that supports embedded content (iframes) can display H5P.</a:t>
            </a:r>
            <a:endParaRPr lang="en-US" sz="1600" dirty="0"/>
          </a:p>
        </p:txBody>
      </p:sp>
      <p:sp>
        <p:nvSpPr>
          <p:cNvPr id="18" name="Text 15"/>
          <p:cNvSpPr/>
          <p:nvPr/>
        </p:nvSpPr>
        <p:spPr>
          <a:xfrm>
            <a:off x="812800" y="6238280"/>
            <a:ext cx="1678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7C"/>
                </a:solidFill>
                <a:latin typeface="Open Sans" pitchFamily="34" charset="0"/>
                <a:ea typeface="Open Sans" pitchFamily="34" charset="-122"/>
                <a:cs typeface="Open Sans" pitchFamily="34" charset="-120"/>
              </a:rPr>
              <a:t>Introduction to H5P</a:t>
            </a:r>
            <a:endParaRPr lang="en-US" sz="1200" dirty="0"/>
          </a:p>
        </p:txBody>
      </p:sp>
      <p:sp>
        <p:nvSpPr>
          <p:cNvPr id="19" name="Text 16"/>
          <p:cNvSpPr/>
          <p:nvPr/>
        </p:nvSpPr>
        <p:spPr>
          <a:xfrm>
            <a:off x="11241187" y="6238280"/>
            <a:ext cx="138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7C"/>
                </a:solidFill>
                <a:latin typeface="Open Sans" pitchFamily="34" charset="0"/>
                <a:ea typeface="Open Sans" pitchFamily="34" charset="-122"/>
                <a:cs typeface="Open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F6FC5"/>
                </a:solidFill>
                <a:latin typeface="Open Sans" pitchFamily="34" charset="0"/>
                <a:ea typeface="Open Sans" pitchFamily="34" charset="-122"/>
                <a:cs typeface="Open Sans" pitchFamily="34" charset="-120"/>
              </a:rPr>
              <a:t>Why use H5P?</a:t>
            </a:r>
            <a:endParaRPr lang="en-US" sz="3200" dirty="0"/>
          </a:p>
        </p:txBody>
      </p:sp>
      <p:pic>
        <p:nvPicPr>
          <p:cNvPr id="3" name="Image 0" descr="line">    </p:cNvPr>
          <p:cNvPicPr>
            <a:picLocks noChangeAspect="1"/>
          </p:cNvPicPr>
          <p:nvPr/>
        </p:nvPicPr>
        <p:blipFill>
          <a:blip r:embed="rId1"/>
          <a:srcRect l="0" r="0" t="0" b="0"/>
          <a:stretch/>
        </p:blipFill>
        <p:spPr>
          <a:xfrm>
            <a:off x="812800" y="1432520"/>
            <a:ext cx="10566400" cy="12700"/>
          </a:xfrm>
          <a:prstGeom prst="rect">
            <a:avLst/>
          </a:prstGeom>
        </p:spPr>
      </p:pic>
      <p:sp>
        <p:nvSpPr>
          <p:cNvPr id="4" name="Shape 1"/>
          <p:cNvSpPr/>
          <p:nvPr/>
        </p:nvSpPr>
        <p:spPr>
          <a:xfrm>
            <a:off x="815975" y="1803995"/>
            <a:ext cx="5175250" cy="1337072"/>
          </a:xfrm>
          <a:prstGeom prst="roundRect">
            <a:avLst>
              <a:gd name="adj" fmla="val 1662"/>
            </a:avLst>
          </a:prstGeom>
          <a:solidFill>
            <a:srgbClr val="FFFFFF"/>
          </a:solidFill>
          <a:ln w="6350">
            <a:solidFill>
              <a:srgbClr val="DDE2E7"/>
            </a:solidFill>
            <a:prstDash val="solid"/>
          </a:ln>
        </p:spPr>
      </p:sp>
      <p:pic>
        <p:nvPicPr>
          <p:cNvPr id="5" name="Image 1" descr="Star">    </p:cNvPr>
          <p:cNvPicPr>
            <a:picLocks noChangeAspect="1"/>
          </p:cNvPicPr>
          <p:nvPr/>
        </p:nvPicPr>
        <p:blipFill>
          <a:blip r:embed="rId2"/>
          <a:srcRect l="0" r="0" t="0" b="0"/>
          <a:stretch/>
        </p:blipFill>
        <p:spPr>
          <a:xfrm>
            <a:off x="1073150" y="2061170"/>
            <a:ext cx="406400" cy="406400"/>
          </a:xfrm>
          <a:prstGeom prst="rect">
            <a:avLst/>
          </a:prstGeom>
        </p:spPr>
      </p:pic>
      <p:sp>
        <p:nvSpPr>
          <p:cNvPr id="6" name="Text 2"/>
          <p:cNvSpPr/>
          <p:nvPr/>
        </p:nvSpPr>
        <p:spPr>
          <a:xfrm>
            <a:off x="1682750" y="2061170"/>
            <a:ext cx="417283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Free and open</a:t>
            </a:r>
            <a:endParaRPr lang="en-US" sz="1800" dirty="0"/>
          </a:p>
        </p:txBody>
      </p:sp>
      <p:sp>
        <p:nvSpPr>
          <p:cNvPr id="7" name="Text 3"/>
          <p:cNvSpPr/>
          <p:nvPr/>
        </p:nvSpPr>
        <p:spPr>
          <a:xfrm>
            <a:off x="1682750" y="2386211"/>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MIT-licensed, with free demos, tutorials and documentation</a:t>
            </a:r>
            <a:endParaRPr lang="en-US" sz="1400" dirty="0"/>
          </a:p>
        </p:txBody>
      </p:sp>
      <p:sp>
        <p:nvSpPr>
          <p:cNvPr id="8" name="Shape 4"/>
          <p:cNvSpPr/>
          <p:nvPr/>
        </p:nvSpPr>
        <p:spPr>
          <a:xfrm>
            <a:off x="6200775" y="1803995"/>
            <a:ext cx="5175250" cy="1337072"/>
          </a:xfrm>
          <a:prstGeom prst="roundRect">
            <a:avLst>
              <a:gd name="adj" fmla="val 1662"/>
            </a:avLst>
          </a:prstGeom>
          <a:solidFill>
            <a:srgbClr val="FFFFFF"/>
          </a:solidFill>
          <a:ln w="6350">
            <a:solidFill>
              <a:srgbClr val="DDE2E7"/>
            </a:solidFill>
            <a:prstDash val="solid"/>
          </a:ln>
        </p:spPr>
      </p:sp>
      <p:pic>
        <p:nvPicPr>
          <p:cNvPr id="9" name="Image 2" descr="Globe">    </p:cNvPr>
          <p:cNvPicPr>
            <a:picLocks noChangeAspect="1"/>
          </p:cNvPicPr>
          <p:nvPr/>
        </p:nvPicPr>
        <p:blipFill>
          <a:blip r:embed="rId3"/>
          <a:srcRect l="0" r="0" t="0" b="0"/>
          <a:stretch/>
        </p:blipFill>
        <p:spPr>
          <a:xfrm>
            <a:off x="6457950" y="2061170"/>
            <a:ext cx="406400" cy="406400"/>
          </a:xfrm>
          <a:prstGeom prst="rect">
            <a:avLst/>
          </a:prstGeom>
        </p:spPr>
      </p:pic>
      <p:sp>
        <p:nvSpPr>
          <p:cNvPr id="10" name="Text 5"/>
          <p:cNvSpPr/>
          <p:nvPr/>
        </p:nvSpPr>
        <p:spPr>
          <a:xfrm>
            <a:off x="7067550" y="2061170"/>
            <a:ext cx="417283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Mobile friendly</a:t>
            </a:r>
            <a:endParaRPr lang="en-US" sz="1800" dirty="0"/>
          </a:p>
        </p:txBody>
      </p:sp>
      <p:sp>
        <p:nvSpPr>
          <p:cNvPr id="11" name="Text 6"/>
          <p:cNvSpPr/>
          <p:nvPr/>
        </p:nvSpPr>
        <p:spPr>
          <a:xfrm>
            <a:off x="7067550" y="2386211"/>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The same experience on computers, phones and tablets</a:t>
            </a:r>
            <a:endParaRPr lang="en-US" sz="1400" dirty="0"/>
          </a:p>
        </p:txBody>
      </p:sp>
      <p:sp>
        <p:nvSpPr>
          <p:cNvPr id="12" name="Shape 7"/>
          <p:cNvSpPr/>
          <p:nvPr/>
        </p:nvSpPr>
        <p:spPr>
          <a:xfrm>
            <a:off x="815975" y="3350617"/>
            <a:ext cx="5175250" cy="1337072"/>
          </a:xfrm>
          <a:prstGeom prst="roundRect">
            <a:avLst>
              <a:gd name="adj" fmla="val 1662"/>
            </a:avLst>
          </a:prstGeom>
          <a:solidFill>
            <a:srgbClr val="FFFFFF"/>
          </a:solidFill>
          <a:ln w="6350">
            <a:solidFill>
              <a:srgbClr val="DDE2E7"/>
            </a:solidFill>
            <a:prstDash val="solid"/>
          </a:ln>
        </p:spPr>
      </p:sp>
      <p:pic>
        <p:nvPicPr>
          <p:cNvPr id="13" name="Image 3" descr="PaperPlane">    </p:cNvPr>
          <p:cNvPicPr>
            <a:picLocks noChangeAspect="1"/>
          </p:cNvPicPr>
          <p:nvPr/>
        </p:nvPicPr>
        <p:blipFill>
          <a:blip r:embed="rId4"/>
          <a:srcRect l="0" r="0" t="0" b="0"/>
          <a:stretch/>
        </p:blipFill>
        <p:spPr>
          <a:xfrm>
            <a:off x="1073150" y="3607792"/>
            <a:ext cx="406400" cy="406400"/>
          </a:xfrm>
          <a:prstGeom prst="rect">
            <a:avLst/>
          </a:prstGeom>
        </p:spPr>
      </p:pic>
      <p:sp>
        <p:nvSpPr>
          <p:cNvPr id="14" name="Text 8"/>
          <p:cNvSpPr/>
          <p:nvPr/>
        </p:nvSpPr>
        <p:spPr>
          <a:xfrm>
            <a:off x="1682750" y="3607792"/>
            <a:ext cx="417283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Portable</a:t>
            </a:r>
            <a:endParaRPr lang="en-US" sz="1800" dirty="0"/>
          </a:p>
        </p:txBody>
      </p:sp>
      <p:sp>
        <p:nvSpPr>
          <p:cNvPr id="15" name="Text 9"/>
          <p:cNvSpPr/>
          <p:nvPr/>
        </p:nvSpPr>
        <p:spPr>
          <a:xfrm>
            <a:off x="1682750" y="3932833"/>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Export and import .h5p files to move or reuse content</a:t>
            </a:r>
            <a:endParaRPr lang="en-US" sz="1400" dirty="0"/>
          </a:p>
        </p:txBody>
      </p:sp>
      <p:sp>
        <p:nvSpPr>
          <p:cNvPr id="16" name="Shape 10"/>
          <p:cNvSpPr/>
          <p:nvPr/>
        </p:nvSpPr>
        <p:spPr>
          <a:xfrm>
            <a:off x="6200775" y="3350617"/>
            <a:ext cx="5175250" cy="1337072"/>
          </a:xfrm>
          <a:prstGeom prst="roundRect">
            <a:avLst>
              <a:gd name="adj" fmla="val 1662"/>
            </a:avLst>
          </a:prstGeom>
          <a:solidFill>
            <a:srgbClr val="FFFFFF"/>
          </a:solidFill>
          <a:ln w="6350">
            <a:solidFill>
              <a:srgbClr val="DDE2E7"/>
            </a:solidFill>
            <a:prstDash val="solid"/>
          </a:ln>
        </p:spPr>
      </p:sp>
      <p:pic>
        <p:nvPicPr>
          <p:cNvPr id="17" name="Image 4" descr="Wrench">    </p:cNvPr>
          <p:cNvPicPr>
            <a:picLocks noChangeAspect="1"/>
          </p:cNvPicPr>
          <p:nvPr/>
        </p:nvPicPr>
        <p:blipFill>
          <a:blip r:embed="rId5"/>
          <a:srcRect l="0" r="0" t="0" b="0"/>
          <a:stretch/>
        </p:blipFill>
        <p:spPr>
          <a:xfrm>
            <a:off x="6457950" y="3607792"/>
            <a:ext cx="406400" cy="406400"/>
          </a:xfrm>
          <a:prstGeom prst="rect">
            <a:avLst/>
          </a:prstGeom>
        </p:spPr>
      </p:pic>
      <p:sp>
        <p:nvSpPr>
          <p:cNvPr id="18" name="Text 11"/>
          <p:cNvSpPr/>
          <p:nvPr/>
        </p:nvSpPr>
        <p:spPr>
          <a:xfrm>
            <a:off x="7067550" y="3607792"/>
            <a:ext cx="417283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No coding needed</a:t>
            </a:r>
            <a:endParaRPr lang="en-US" sz="1800" dirty="0"/>
          </a:p>
        </p:txBody>
      </p:sp>
      <p:sp>
        <p:nvSpPr>
          <p:cNvPr id="19" name="Text 12"/>
          <p:cNvSpPr/>
          <p:nvPr/>
        </p:nvSpPr>
        <p:spPr>
          <a:xfrm>
            <a:off x="7067550" y="3932833"/>
            <a:ext cx="417283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Authors build everything in a browser-based editor</a:t>
            </a:r>
            <a:endParaRPr lang="en-US" sz="1400" dirty="0"/>
          </a:p>
        </p:txBody>
      </p:sp>
      <p:sp>
        <p:nvSpPr>
          <p:cNvPr id="20" name="Text 13"/>
          <p:cNvSpPr/>
          <p:nvPr/>
        </p:nvSpPr>
        <p:spPr>
          <a:xfrm>
            <a:off x="812800" y="6238280"/>
            <a:ext cx="1678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7C"/>
                </a:solidFill>
                <a:latin typeface="Open Sans" pitchFamily="34" charset="0"/>
                <a:ea typeface="Open Sans" pitchFamily="34" charset="-122"/>
                <a:cs typeface="Open Sans" pitchFamily="34" charset="-120"/>
              </a:rPr>
              <a:t>Introduction to H5P</a:t>
            </a:r>
            <a:endParaRPr lang="en-US" sz="1200" dirty="0"/>
          </a:p>
        </p:txBody>
      </p:sp>
      <p:sp>
        <p:nvSpPr>
          <p:cNvPr id="21" name="Text 14"/>
          <p:cNvSpPr/>
          <p:nvPr/>
        </p:nvSpPr>
        <p:spPr>
          <a:xfrm>
            <a:off x="11241187" y="6238280"/>
            <a:ext cx="138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7C"/>
                </a:solidFill>
                <a:latin typeface="Open Sans" pitchFamily="34" charset="0"/>
                <a:ea typeface="Open Sans" pitchFamily="34" charset="-122"/>
                <a:cs typeface="Open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6FC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FFFFFF"/>
                </a:solidFill>
                <a:latin typeface="Open Sans" pitchFamily="34" charset="0"/>
                <a:ea typeface="Open Sans" pitchFamily="34" charset="-122"/>
                <a:cs typeface="Open Sans" pitchFamily="34" charset="-120"/>
              </a:rPr>
              <a:t>Get started with H5P</a:t>
            </a:r>
            <a:endParaRPr lang="en-US" sz="3200" dirty="0"/>
          </a:p>
        </p:txBody>
      </p:sp>
      <p:pic>
        <p:nvPicPr>
          <p:cNvPr id="3" name="Image 0" descr="line">    </p:cNvPr>
          <p:cNvPicPr>
            <a:picLocks noChangeAspect="1"/>
          </p:cNvPicPr>
          <p:nvPr/>
        </p:nvPicPr>
        <p:blipFill>
          <a:blip r:embed="rId1"/>
          <a:srcRect l="0" r="0" t="0" b="0"/>
          <a:stretch/>
        </p:blipFill>
        <p:spPr>
          <a:xfrm>
            <a:off x="812800" y="1432520"/>
            <a:ext cx="10566400" cy="12700"/>
          </a:xfrm>
          <a:prstGeom prst="rect">
            <a:avLst/>
          </a:prstGeom>
        </p:spPr>
      </p:pic>
      <p:sp>
        <p:nvSpPr>
          <p:cNvPr id="4" name="Shape 1"/>
          <p:cNvSpPr/>
          <p:nvPr/>
        </p:nvSpPr>
        <p:spPr>
          <a:xfrm>
            <a:off x="812800" y="1800820"/>
            <a:ext cx="3386634" cy="2234803"/>
          </a:xfrm>
          <a:prstGeom prst="roundRect">
            <a:avLst>
              <a:gd name="adj" fmla="val 1137"/>
            </a:avLst>
          </a:prstGeom>
          <a:solidFill>
            <a:srgbClr val="FFFFFF"/>
          </a:solidFill>
          <a:ln/>
        </p:spPr>
      </p:sp>
      <p:sp>
        <p:nvSpPr>
          <p:cNvPr id="5" name="Text 2"/>
          <p:cNvSpPr/>
          <p:nvPr/>
        </p:nvSpPr>
        <p:spPr>
          <a:xfrm>
            <a:off x="1066800" y="2054820"/>
            <a:ext cx="2964993"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D1007C"/>
                </a:solidFill>
                <a:latin typeface="Open Sans" pitchFamily="34" charset="0"/>
                <a:ea typeface="Open Sans" pitchFamily="34" charset="-122"/>
                <a:cs typeface="Open Sans" pitchFamily="34" charset="-120"/>
              </a:rPr>
              <a:t>1</a:t>
            </a:r>
            <a:endParaRPr lang="en-US" sz="3600" dirty="0"/>
          </a:p>
        </p:txBody>
      </p:sp>
      <p:sp>
        <p:nvSpPr>
          <p:cNvPr id="6" name="Text 3"/>
          <p:cNvSpPr/>
          <p:nvPr/>
        </p:nvSpPr>
        <p:spPr>
          <a:xfrm>
            <a:off x="1066800" y="265926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Explore</a:t>
            </a:r>
            <a:endParaRPr lang="en-US" sz="1800" dirty="0"/>
          </a:p>
        </p:txBody>
      </p:sp>
      <p:sp>
        <p:nvSpPr>
          <p:cNvPr id="7" name="Text 4"/>
          <p:cNvSpPr/>
          <p:nvPr/>
        </p:nvSpPr>
        <p:spPr>
          <a:xfrm>
            <a:off x="1066800" y="3035102"/>
            <a:ext cx="296499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Try the live examples on h5p.org to see what each content type does.</a:t>
            </a:r>
            <a:endParaRPr lang="en-US" sz="1400" dirty="0"/>
          </a:p>
        </p:txBody>
      </p:sp>
      <p:sp>
        <p:nvSpPr>
          <p:cNvPr id="8" name="Shape 5"/>
          <p:cNvSpPr/>
          <p:nvPr/>
        </p:nvSpPr>
        <p:spPr>
          <a:xfrm>
            <a:off x="4402634" y="1800820"/>
            <a:ext cx="3386733" cy="2234803"/>
          </a:xfrm>
          <a:prstGeom prst="roundRect">
            <a:avLst>
              <a:gd name="adj" fmla="val 1137"/>
            </a:avLst>
          </a:prstGeom>
          <a:solidFill>
            <a:srgbClr val="FFFFFF"/>
          </a:solidFill>
          <a:ln/>
        </p:spPr>
      </p:sp>
      <p:sp>
        <p:nvSpPr>
          <p:cNvPr id="9" name="Text 6"/>
          <p:cNvSpPr/>
          <p:nvPr/>
        </p:nvSpPr>
        <p:spPr>
          <a:xfrm>
            <a:off x="4656634" y="2054820"/>
            <a:ext cx="2965095"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D1007C"/>
                </a:solidFill>
                <a:latin typeface="Open Sans" pitchFamily="34" charset="0"/>
                <a:ea typeface="Open Sans" pitchFamily="34" charset="-122"/>
                <a:cs typeface="Open Sans" pitchFamily="34" charset="-120"/>
              </a:rPr>
              <a:t>2</a:t>
            </a:r>
            <a:endParaRPr lang="en-US" sz="3600" dirty="0"/>
          </a:p>
        </p:txBody>
      </p:sp>
      <p:sp>
        <p:nvSpPr>
          <p:cNvPr id="10" name="Text 7"/>
          <p:cNvSpPr/>
          <p:nvPr/>
        </p:nvSpPr>
        <p:spPr>
          <a:xfrm>
            <a:off x="4656634" y="2659261"/>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Choose a setup</a:t>
            </a:r>
            <a:endParaRPr lang="en-US" sz="1800" dirty="0"/>
          </a:p>
        </p:txBody>
      </p:sp>
      <p:sp>
        <p:nvSpPr>
          <p:cNvPr id="11" name="Text 8"/>
          <p:cNvSpPr/>
          <p:nvPr/>
        </p:nvSpPr>
        <p:spPr>
          <a:xfrm>
            <a:off x="4656634" y="3035102"/>
            <a:ext cx="296509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Add the plugin to WordPress, Moodle or Drupal, or use H5P.com with your LMS.</a:t>
            </a:r>
            <a:endParaRPr lang="en-US" sz="1400" dirty="0"/>
          </a:p>
        </p:txBody>
      </p:sp>
      <p:sp>
        <p:nvSpPr>
          <p:cNvPr id="12" name="Shape 9"/>
          <p:cNvSpPr/>
          <p:nvPr/>
        </p:nvSpPr>
        <p:spPr>
          <a:xfrm>
            <a:off x="7992566" y="1800820"/>
            <a:ext cx="3386634" cy="2234803"/>
          </a:xfrm>
          <a:prstGeom prst="roundRect">
            <a:avLst>
              <a:gd name="adj" fmla="val 1137"/>
            </a:avLst>
          </a:prstGeom>
          <a:solidFill>
            <a:srgbClr val="FFFFFF"/>
          </a:solidFill>
          <a:ln/>
        </p:spPr>
      </p:sp>
      <p:sp>
        <p:nvSpPr>
          <p:cNvPr id="13" name="Text 10"/>
          <p:cNvSpPr/>
          <p:nvPr/>
        </p:nvSpPr>
        <p:spPr>
          <a:xfrm>
            <a:off x="8246566" y="2054820"/>
            <a:ext cx="2964993"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D1007C"/>
                </a:solidFill>
                <a:latin typeface="Open Sans" pitchFamily="34" charset="0"/>
                <a:ea typeface="Open Sans" pitchFamily="34" charset="-122"/>
                <a:cs typeface="Open Sans" pitchFamily="34" charset="-120"/>
              </a:rPr>
              <a:t>3</a:t>
            </a:r>
            <a:endParaRPr lang="en-US" sz="3600" dirty="0"/>
          </a:p>
        </p:txBody>
      </p:sp>
      <p:sp>
        <p:nvSpPr>
          <p:cNvPr id="14" name="Text 11"/>
          <p:cNvSpPr/>
          <p:nvPr/>
        </p:nvSpPr>
        <p:spPr>
          <a:xfrm>
            <a:off x="8246566" y="265926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33B42"/>
                </a:solidFill>
                <a:latin typeface="Open Sans" pitchFamily="34" charset="0"/>
                <a:ea typeface="Open Sans" pitchFamily="34" charset="-122"/>
                <a:cs typeface="Open Sans" pitchFamily="34" charset="-120"/>
              </a:rPr>
              <a:t>Create and share</a:t>
            </a:r>
            <a:endParaRPr lang="en-US" sz="1800" dirty="0"/>
          </a:p>
        </p:txBody>
      </p:sp>
      <p:sp>
        <p:nvSpPr>
          <p:cNvPr id="15" name="Text 12"/>
          <p:cNvSpPr/>
          <p:nvPr/>
        </p:nvSpPr>
        <p:spPr>
          <a:xfrm>
            <a:off x="8246566" y="3035102"/>
            <a:ext cx="296499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Open Sans" pitchFamily="34" charset="0"/>
                <a:ea typeface="Open Sans" pitchFamily="34" charset="-122"/>
                <a:cs typeface="Open Sans" pitchFamily="34" charset="-120"/>
              </a:rPr>
              <a:t>Build your first activity, then embed, export or reuse it.</a:t>
            </a:r>
            <a:endParaRPr lang="en-US" sz="1400" dirty="0"/>
          </a:p>
        </p:txBody>
      </p:sp>
      <p:sp>
        <p:nvSpPr>
          <p:cNvPr id="16" name="Text 13"/>
          <p:cNvSpPr/>
          <p:nvPr/>
        </p:nvSpPr>
        <p:spPr>
          <a:xfrm>
            <a:off x="812800" y="4391223"/>
            <a:ext cx="1527870" cy="452041"/>
          </a:xfrm>
          <a:prstGeom prst="roundRect">
            <a:avLst>
              <a:gd name="adj" fmla="val 8428"/>
            </a:avLst>
          </a:prstGeom>
          <a:solidFill>
            <a:srgbClr val="D1007C"/>
          </a:solidFill>
          <a:ln/>
        </p:spPr>
        <p:txBody>
          <a:bodyPr wrap="none" lIns="0" tIns="0" rIns="0" bIns="0" rtlCol="0" anchor="ctr">
            <a:normAutofit/>
          </a:bodyPr>
          <a:lstStyle/>
          <a:p>
            <a:pPr algn="ctr" indent="0" marL="0">
              <a:lnSpc>
                <a:spcPts val="1960"/>
              </a:lnSpc>
              <a:buNone/>
            </a:pPr>
            <a:r>
              <a:rPr lang="en-US" sz="1400" b="1" u="sng" dirty="0">
                <a:solidFill>
                  <a:srgbClr val="FFFFFF"/>
                </a:solidFill>
                <a:latin typeface="Open Sans" pitchFamily="34" charset="0"/>
                <a:ea typeface="Open Sans" pitchFamily="34" charset="-122"/>
                <a:cs typeface="Open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Visit h5p.org</a:t>
            </a:r>
            <a:endParaRPr lang="en-US" sz="1400" dirty="0"/>
          </a:p>
        </p:txBody>
      </p:sp>
      <p:sp>
        <p:nvSpPr>
          <p:cNvPr id="17" name="Text 14"/>
          <p:cNvSpPr/>
          <p:nvPr/>
        </p:nvSpPr>
        <p:spPr>
          <a:xfrm>
            <a:off x="2493070" y="4492823"/>
            <a:ext cx="50464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Open Sans" pitchFamily="34" charset="0"/>
                <a:ea typeface="Open Sans" pitchFamily="34" charset="-122"/>
                <a:cs typeface="Open Sans" pitchFamily="34" charset="-120"/>
              </a:rPr>
              <a:t>Examples, documentation and the community forum</a:t>
            </a:r>
            <a:endParaRPr lang="en-US" sz="1400" dirty="0"/>
          </a:p>
        </p:txBody>
      </p:sp>
      <p:sp>
        <p:nvSpPr>
          <p:cNvPr id="18" name="Text 15"/>
          <p:cNvSpPr/>
          <p:nvPr/>
        </p:nvSpPr>
        <p:spPr>
          <a:xfrm>
            <a:off x="812800" y="6238280"/>
            <a:ext cx="1678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6F7"/>
                </a:solidFill>
                <a:latin typeface="Open Sans" pitchFamily="34" charset="0"/>
                <a:ea typeface="Open Sans" pitchFamily="34" charset="-122"/>
                <a:cs typeface="Open Sans" pitchFamily="34" charset="-120"/>
              </a:rPr>
              <a:t>Introduction to H5P</a:t>
            </a:r>
            <a:endParaRPr lang="en-US" sz="1200" dirty="0"/>
          </a:p>
        </p:txBody>
      </p:sp>
      <p:sp>
        <p:nvSpPr>
          <p:cNvPr id="19" name="Text 16"/>
          <p:cNvSpPr/>
          <p:nvPr/>
        </p:nvSpPr>
        <p:spPr>
          <a:xfrm>
            <a:off x="11241187" y="6238280"/>
            <a:ext cx="138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6E6F7"/>
                </a:solidFill>
                <a:latin typeface="Open Sans" pitchFamily="34" charset="0"/>
                <a:ea typeface="Open Sans" pitchFamily="34" charset="-122"/>
                <a:cs typeface="Open Sans" pitchFamily="34" charset="-120"/>
              </a:rPr>
              <a:t>7</a:t>
            </a:r>
            <a:endParaRPr lang="en-US" sz="1200" dirty="0"/>
          </a:p>
        </p:txBody>
      </p:sp>
    </p:spTree>
  </p:cSld>
  <p:clrMapOvr>
    <a:masterClrMapping/>
  </p:clrMapOvr>
</p:sld>
</file>

<file path=ppt/theme/theme1.xml><?xml version="1.0" encoding="utf-8"?>
<a:theme xmlns:a="http://schemas.openxmlformats.org/drawingml/2006/main" name="Introduction to H5P">
  <a:themeElements>
    <a:clrScheme name="Introduction to H5P">
      <a:dk1>
        <a:srgbClr val="1F6FC5"/>
      </a:dk1>
      <a:lt1>
        <a:srgbClr val="FFFFFF"/>
      </a:lt1>
      <a:dk2>
        <a:srgbClr val="357DCB"/>
      </a:dk2>
      <a:lt2>
        <a:srgbClr val="C7DBF1"/>
      </a:lt2>
      <a:accent1>
        <a:srgbClr val="D1007C"/>
      </a:accent1>
      <a:accent2>
        <a:srgbClr val="333B42"/>
      </a:accent2>
      <a:accent3>
        <a:srgbClr val="4A535B"/>
      </a:accent3>
      <a:accent4>
        <a:srgbClr val="6B747C"/>
      </a:accent4>
      <a:accent5>
        <a:srgbClr val="D6E6F7"/>
      </a:accent5>
      <a:accent6>
        <a:srgbClr val="FBE0EF"/>
      </a:accent6>
      <a:hlink>
        <a:srgbClr val="0563C1"/>
      </a:hlink>
      <a:folHlink>
        <a:srgbClr val="954F72"/>
      </a:folHlink>
    </a:clrScheme>
    <a:fontScheme name="Introduction to H5P">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H5P</dc:title>
  <dc:subject/>
  <dc:creator/>
  <cp:lastModifiedBy/>
  <cp:revision>1</cp:revision>
  <dcterms:created xsi:type="dcterms:W3CDTF">2026-10-20T08:19:37Z</dcterms:created>
  <dcterms:modified xsi:type="dcterms:W3CDTF">2026-10-20T08:19:37Z</dcterms:modified>
</cp:coreProperties>
</file>